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Kp+92aTienNR/HpsGVFKqm8Vf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763b39c19_1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9763b39c19_1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9763b39c19_1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9763b39c19_1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g39763b39c19_1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9763b39c19_1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9763b39c19_1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g39763b39c19_1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9763b39c19_1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763b39c19_1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9763b39c19_1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9763b39c19_1_1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763b39c19_1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9763b39c19_1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9763b39c19_1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763b39c19_1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9763b39c19_1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9763b39c19_1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763b39c19_1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9763b39c19_1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9763b39c19_1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763b39c19_1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9763b39c19_1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9763b39c19_1_2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9763b39c19_1_11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9763b39c19_1_114"/>
          <p:cNvSpPr/>
          <p:nvPr/>
        </p:nvSpPr>
        <p:spPr>
          <a:xfrm>
            <a:off x="8046720" y="489204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763b39c19_1_114"/>
          <p:cNvSpPr/>
          <p:nvPr/>
        </p:nvSpPr>
        <p:spPr>
          <a:xfrm>
            <a:off x="457200" y="164592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9763b39c19_1_114"/>
          <p:cNvSpPr/>
          <p:nvPr/>
        </p:nvSpPr>
        <p:spPr>
          <a:xfrm>
            <a:off x="7132320" y="731520"/>
            <a:ext cx="1828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B35"/>
              </a:buClr>
              <a:buSzPts val="12000"/>
              <a:buFont typeface="Consolas"/>
              <a:buNone/>
            </a:pPr>
            <a:r>
              <a:rPr b="1" i="0" lang="en-US" sz="12000" u="none" cap="none" strike="noStrike">
                <a:solidFill>
                  <a:srgbClr val="2A2B35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763b39c19_1_114"/>
          <p:cNvSpPr/>
          <p:nvPr/>
        </p:nvSpPr>
        <p:spPr>
          <a:xfrm>
            <a:off x="457200" y="1005850"/>
            <a:ext cx="83667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Vocês já usaram algoritmos de busca de complexidade O(n) e O(log n).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Existe um algoritmo com complexidade O(1)?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g39763b39c19_1_114"/>
          <p:cNvCxnSpPr/>
          <p:nvPr/>
        </p:nvCxnSpPr>
        <p:spPr>
          <a:xfrm>
            <a:off x="457200" y="31456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763b39c19_1_114"/>
          <p:cNvSpPr/>
          <p:nvPr/>
        </p:nvSpPr>
        <p:spPr>
          <a:xfrm>
            <a:off x="457200" y="3302392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800"/>
              <a:buFont typeface="Consolas"/>
              <a:buNone/>
            </a:pPr>
            <a:r>
              <a:rPr b="0" i="1" lang="en-US" sz="1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Tempo constante — independente do tamanho dos dados.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39763b39c19_1_114"/>
          <p:cNvSpPr/>
          <p:nvPr/>
        </p:nvSpPr>
        <p:spPr>
          <a:xfrm>
            <a:off x="0" y="914400"/>
            <a:ext cx="54900" cy="21030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763b39c19_1_126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9763b39c19_1_126"/>
          <p:cNvSpPr/>
          <p:nvPr/>
        </p:nvSpPr>
        <p:spPr>
          <a:xfrm>
            <a:off x="8046720" y="489204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2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9763b39c19_1_126"/>
          <p:cNvSpPr/>
          <p:nvPr/>
        </p:nvSpPr>
        <p:spPr>
          <a:xfrm>
            <a:off x="457200" y="164592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9763b39c19_1_126"/>
          <p:cNvSpPr/>
          <p:nvPr/>
        </p:nvSpPr>
        <p:spPr>
          <a:xfrm>
            <a:off x="7132320" y="731520"/>
            <a:ext cx="1828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B35"/>
              </a:buClr>
              <a:buSzPts val="12000"/>
              <a:buFont typeface="Consolas"/>
              <a:buNone/>
            </a:pPr>
            <a:r>
              <a:rPr b="1" i="0" lang="en-US" sz="12000" u="none" cap="none" strike="noStrike">
                <a:solidFill>
                  <a:srgbClr val="2A2B35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9763b39c19_1_126"/>
          <p:cNvSpPr/>
          <p:nvPr/>
        </p:nvSpPr>
        <p:spPr>
          <a:xfrm>
            <a:off x="457200" y="100584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Como o Google encontra um resultado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em bilhões de páginas em milissegundos?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g39763b39c19_1_126"/>
          <p:cNvCxnSpPr/>
          <p:nvPr/>
        </p:nvCxnSpPr>
        <p:spPr>
          <a:xfrm>
            <a:off x="457200" y="292608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g39763b39c19_1_126"/>
          <p:cNvSpPr/>
          <p:nvPr/>
        </p:nvSpPr>
        <p:spPr>
          <a:xfrm>
            <a:off x="457200" y="3035808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800"/>
              <a:buFont typeface="Consolas"/>
              <a:buNone/>
            </a:pPr>
            <a:r>
              <a:rPr b="0" i="1" lang="en-US" sz="1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O(log n) </a:t>
            </a:r>
            <a:r>
              <a:rPr i="1" lang="en-US" sz="1800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em </a:t>
            </a:r>
            <a:r>
              <a:rPr b="0" i="1" lang="en-US" sz="1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um índice de bilhões de registros ainda seria lento demais?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9763b39c19_1_126"/>
          <p:cNvSpPr/>
          <p:nvPr/>
        </p:nvSpPr>
        <p:spPr>
          <a:xfrm>
            <a:off x="0" y="914400"/>
            <a:ext cx="54900" cy="21030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9763b39c19_1_13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9763b39c19_1_138"/>
          <p:cNvSpPr/>
          <p:nvPr/>
        </p:nvSpPr>
        <p:spPr>
          <a:xfrm>
            <a:off x="8046720" y="489204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3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9763b39c19_1_138"/>
          <p:cNvSpPr/>
          <p:nvPr/>
        </p:nvSpPr>
        <p:spPr>
          <a:xfrm>
            <a:off x="457200" y="164592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9763b39c19_1_138"/>
          <p:cNvSpPr/>
          <p:nvPr/>
        </p:nvSpPr>
        <p:spPr>
          <a:xfrm>
            <a:off x="7132320" y="731520"/>
            <a:ext cx="1828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B35"/>
              </a:buClr>
              <a:buSzPts val="12000"/>
              <a:buFont typeface="Consolas"/>
              <a:buNone/>
            </a:pPr>
            <a:r>
              <a:rPr b="1" i="0" lang="en-US" sz="12000" u="none" cap="none" strike="noStrike">
                <a:solidFill>
                  <a:srgbClr val="2A2B3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9763b39c19_1_138"/>
          <p:cNvSpPr/>
          <p:nvPr/>
        </p:nvSpPr>
        <p:spPr>
          <a:xfrm>
            <a:off x="457200" y="100584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Quando você cria uma senha,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o sistema guarda a sua senha?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g39763b39c19_1_138"/>
          <p:cNvCxnSpPr/>
          <p:nvPr/>
        </p:nvCxnSpPr>
        <p:spPr>
          <a:xfrm>
            <a:off x="457200" y="292608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g39763b39c19_1_138"/>
          <p:cNvSpPr/>
          <p:nvPr/>
        </p:nvSpPr>
        <p:spPr>
          <a:xfrm>
            <a:off x="457200" y="3035808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800"/>
              <a:buFont typeface="Consolas"/>
              <a:buNone/>
            </a:pPr>
            <a:r>
              <a:rPr b="0" i="1" lang="en-US" sz="1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Por que nenhum site consegue te dizer qual era sua senha — só pode redefinir?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763b39c19_1_138"/>
          <p:cNvSpPr/>
          <p:nvPr/>
        </p:nvSpPr>
        <p:spPr>
          <a:xfrm>
            <a:off x="0" y="914400"/>
            <a:ext cx="54900" cy="21030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763b39c19_1_15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9763b39c19_1_150"/>
          <p:cNvSpPr/>
          <p:nvPr/>
        </p:nvSpPr>
        <p:spPr>
          <a:xfrm>
            <a:off x="8046720" y="489204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4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9763b39c19_1_150"/>
          <p:cNvSpPr/>
          <p:nvPr/>
        </p:nvSpPr>
        <p:spPr>
          <a:xfrm>
            <a:off x="457200" y="164592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9763b39c19_1_150"/>
          <p:cNvSpPr/>
          <p:nvPr/>
        </p:nvSpPr>
        <p:spPr>
          <a:xfrm>
            <a:off x="7132320" y="731520"/>
            <a:ext cx="1828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B35"/>
              </a:buClr>
              <a:buSzPts val="12000"/>
              <a:buFont typeface="Consolas"/>
              <a:buNone/>
            </a:pPr>
            <a:r>
              <a:rPr b="1" i="0" lang="en-US" sz="12000" u="none" cap="none" strike="noStrike">
                <a:solidFill>
                  <a:srgbClr val="2A2B35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9763b39c19_1_150"/>
          <p:cNvSpPr/>
          <p:nvPr/>
        </p:nvSpPr>
        <p:spPr>
          <a:xfrm>
            <a:off x="457200" y="100584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O que é minerar Bitcoin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onsolas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e o que isso tem a ver com computação?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g39763b39c19_1_150"/>
          <p:cNvCxnSpPr/>
          <p:nvPr/>
        </p:nvCxnSpPr>
        <p:spPr>
          <a:xfrm>
            <a:off x="457200" y="292608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g39763b39c19_1_150"/>
          <p:cNvSpPr/>
          <p:nvPr/>
        </p:nvSpPr>
        <p:spPr>
          <a:xfrm>
            <a:off x="457200" y="3035808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800"/>
              <a:buFont typeface="Consolas"/>
              <a:buNone/>
            </a:pPr>
            <a:r>
              <a:rPr b="0" i="1" lang="en-US" sz="1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Minerar é resolver um problema matemático — mas qual problema?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9763b39c19_1_150"/>
          <p:cNvSpPr/>
          <p:nvPr/>
        </p:nvSpPr>
        <p:spPr>
          <a:xfrm>
            <a:off x="0" y="914400"/>
            <a:ext cx="54900" cy="21030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763b39c19_1_162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9763b39c19_1_162"/>
          <p:cNvSpPr/>
          <p:nvPr/>
        </p:nvSpPr>
        <p:spPr>
          <a:xfrm>
            <a:off x="8046720" y="489204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5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9763b39c19_1_162"/>
          <p:cNvSpPr/>
          <p:nvPr/>
        </p:nvSpPr>
        <p:spPr>
          <a:xfrm>
            <a:off x="457200" y="164592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9763b39c19_1_162"/>
          <p:cNvSpPr/>
          <p:nvPr/>
        </p:nvSpPr>
        <p:spPr>
          <a:xfrm>
            <a:off x="457200" y="43891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0" i="1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Existe um algoritmo com O(1)?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g39763b39c19_1_162"/>
          <p:cNvCxnSpPr/>
          <p:nvPr/>
        </p:nvCxnSpPr>
        <p:spPr>
          <a:xfrm>
            <a:off x="457200" y="768096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g39763b39c19_1_162"/>
          <p:cNvSpPr/>
          <p:nvPr/>
        </p:nvSpPr>
        <p:spPr>
          <a:xfrm>
            <a:off x="457200" y="859536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Sim. A tabela hash.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9763b39c19_1_162"/>
          <p:cNvSpPr/>
          <p:nvPr/>
        </p:nvSpPr>
        <p:spPr>
          <a:xfrm>
            <a:off x="0" y="859536"/>
            <a:ext cx="54900" cy="6585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g39763b39c19_1_162"/>
          <p:cNvCxnSpPr/>
          <p:nvPr/>
        </p:nvCxnSpPr>
        <p:spPr>
          <a:xfrm>
            <a:off x="457200" y="1591056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g39763b39c19_1_162"/>
          <p:cNvSpPr/>
          <p:nvPr/>
        </p:nvSpPr>
        <p:spPr>
          <a:xfrm>
            <a:off x="457200" y="1700784"/>
            <a:ext cx="8229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Uma tabela hash acessa qualquer elemento em tempo constante — O(1) na média. Não importa se a tabela tem 10 ou 10 milhões de elementos: o tempo de busca é o mesmo. Isso é possível porque a posição do elemento é calculada, não procurada.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9763b39c19_1_162"/>
          <p:cNvSpPr/>
          <p:nvPr/>
        </p:nvSpPr>
        <p:spPr>
          <a:xfrm>
            <a:off x="457200" y="3621024"/>
            <a:ext cx="8229600" cy="69480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9763b39c19_1_162"/>
          <p:cNvSpPr/>
          <p:nvPr/>
        </p:nvSpPr>
        <p:spPr>
          <a:xfrm>
            <a:off x="457200" y="3621024"/>
            <a:ext cx="54900" cy="6948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9763b39c19_1_162"/>
          <p:cNvSpPr/>
          <p:nvPr/>
        </p:nvSpPr>
        <p:spPr>
          <a:xfrm>
            <a:off x="658368" y="3657600"/>
            <a:ext cx="7863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0" i="1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O(1) não significa instantâneo — significa que o tempo não cresce com o tamanho dos dados.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763b39c19_1_17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9763b39c19_1_178"/>
          <p:cNvSpPr/>
          <p:nvPr/>
        </p:nvSpPr>
        <p:spPr>
          <a:xfrm>
            <a:off x="8046720" y="489204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6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9763b39c19_1_178"/>
          <p:cNvSpPr/>
          <p:nvPr/>
        </p:nvSpPr>
        <p:spPr>
          <a:xfrm>
            <a:off x="457200" y="164592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9763b39c19_1_178"/>
          <p:cNvSpPr/>
          <p:nvPr/>
        </p:nvSpPr>
        <p:spPr>
          <a:xfrm>
            <a:off x="457200" y="43891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0" i="1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Como o Google encontra algo em bilhões de páginas?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g39763b39c19_1_178"/>
          <p:cNvCxnSpPr/>
          <p:nvPr/>
        </p:nvCxnSpPr>
        <p:spPr>
          <a:xfrm>
            <a:off x="457200" y="768096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g39763b39c19_1_178"/>
          <p:cNvSpPr/>
          <p:nvPr/>
        </p:nvSpPr>
        <p:spPr>
          <a:xfrm>
            <a:off x="457200" y="859536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Com estruturas baseadas em hash.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9763b39c19_1_178"/>
          <p:cNvSpPr/>
          <p:nvPr/>
        </p:nvSpPr>
        <p:spPr>
          <a:xfrm>
            <a:off x="0" y="859536"/>
            <a:ext cx="54900" cy="6585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g39763b39c19_1_178"/>
          <p:cNvCxnSpPr/>
          <p:nvPr/>
        </p:nvCxnSpPr>
        <p:spPr>
          <a:xfrm>
            <a:off x="457200" y="1591056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g39763b39c19_1_178"/>
          <p:cNvSpPr/>
          <p:nvPr/>
        </p:nvSpPr>
        <p:spPr>
          <a:xfrm>
            <a:off x="457200" y="1700784"/>
            <a:ext cx="8229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O Google mantém um uma tabela enorme que mapeia cada palavra a uma lista de páginas. Quando você pesquisa, o sistema não lê bilhões de páginas: ele vai direto ao endereço calculado pela função hash. A busca é O(1).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9763b39c19_1_178"/>
          <p:cNvSpPr/>
          <p:nvPr/>
        </p:nvSpPr>
        <p:spPr>
          <a:xfrm>
            <a:off x="457200" y="3621024"/>
            <a:ext cx="8229600" cy="69480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9763b39c19_1_178"/>
          <p:cNvSpPr/>
          <p:nvPr/>
        </p:nvSpPr>
        <p:spPr>
          <a:xfrm>
            <a:off x="457200" y="3621024"/>
            <a:ext cx="54900" cy="6948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9763b39c19_1_178"/>
          <p:cNvSpPr/>
          <p:nvPr/>
        </p:nvSpPr>
        <p:spPr>
          <a:xfrm>
            <a:off x="658368" y="3657600"/>
            <a:ext cx="7863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0" i="1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 que parece mágica é matemática — a posição é calculada, não percorrida.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763b39c19_1_19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9763b39c19_1_194"/>
          <p:cNvSpPr/>
          <p:nvPr/>
        </p:nvSpPr>
        <p:spPr>
          <a:xfrm>
            <a:off x="8046720" y="489204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7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9763b39c19_1_194"/>
          <p:cNvSpPr/>
          <p:nvPr/>
        </p:nvSpPr>
        <p:spPr>
          <a:xfrm>
            <a:off x="457200" y="164592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9763b39c19_1_194"/>
          <p:cNvSpPr/>
          <p:nvPr/>
        </p:nvSpPr>
        <p:spPr>
          <a:xfrm>
            <a:off x="457200" y="43891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0" i="1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 sistema guarda sua senha?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g39763b39c19_1_194"/>
          <p:cNvCxnSpPr/>
          <p:nvPr/>
        </p:nvCxnSpPr>
        <p:spPr>
          <a:xfrm>
            <a:off x="457200" y="768096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g39763b39c19_1_194"/>
          <p:cNvSpPr/>
          <p:nvPr/>
        </p:nvSpPr>
        <p:spPr>
          <a:xfrm>
            <a:off x="457200" y="859536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Não. Ele guarda o hash da sua senha.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9763b39c19_1_194"/>
          <p:cNvSpPr/>
          <p:nvPr/>
        </p:nvSpPr>
        <p:spPr>
          <a:xfrm>
            <a:off x="0" y="859536"/>
            <a:ext cx="54900" cy="6585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" name="Google Shape;109;g39763b39c19_1_194"/>
          <p:cNvCxnSpPr/>
          <p:nvPr/>
        </p:nvCxnSpPr>
        <p:spPr>
          <a:xfrm>
            <a:off x="457200" y="1591056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g39763b39c19_1_194"/>
          <p:cNvSpPr/>
          <p:nvPr/>
        </p:nvSpPr>
        <p:spPr>
          <a:xfrm>
            <a:off x="457200" y="1700784"/>
            <a:ext cx="8229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Quando você cria uma senha, o sistema aplica uma função hash (como SHA-256 ou bcrypt) e guarda apenas o resultado. Quando você faz login, o sistema aplica a mesma função e compara os hashes. A senha original nunca é armazenada — por isso ninguém consegue te dizer qual era.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9763b39c19_1_194"/>
          <p:cNvSpPr/>
          <p:nvPr/>
        </p:nvSpPr>
        <p:spPr>
          <a:xfrm>
            <a:off x="457200" y="3621024"/>
            <a:ext cx="8229600" cy="69480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9763b39c19_1_194"/>
          <p:cNvSpPr/>
          <p:nvPr/>
        </p:nvSpPr>
        <p:spPr>
          <a:xfrm>
            <a:off x="457200" y="3621024"/>
            <a:ext cx="54900" cy="6948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9763b39c19_1_194"/>
          <p:cNvSpPr/>
          <p:nvPr/>
        </p:nvSpPr>
        <p:spPr>
          <a:xfrm>
            <a:off x="658368" y="3657600"/>
            <a:ext cx="7863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0" i="1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Hash é uma via de mão única: fácil de calcular, impossível de reverter.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763b39c19_1_21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9763b39c19_1_210"/>
          <p:cNvSpPr/>
          <p:nvPr/>
        </p:nvSpPr>
        <p:spPr>
          <a:xfrm>
            <a:off x="8046720" y="489204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8 /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9763b39c19_1_210"/>
          <p:cNvSpPr/>
          <p:nvPr/>
        </p:nvSpPr>
        <p:spPr>
          <a:xfrm>
            <a:off x="457200" y="164592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9763b39c19_1_210"/>
          <p:cNvSpPr/>
          <p:nvPr/>
        </p:nvSpPr>
        <p:spPr>
          <a:xfrm>
            <a:off x="457200" y="43891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0" i="1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 que é minerar Bitcoin?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9763b39c19_1_210"/>
          <p:cNvCxnSpPr/>
          <p:nvPr/>
        </p:nvCxnSpPr>
        <p:spPr>
          <a:xfrm>
            <a:off x="457200" y="768096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g39763b39c19_1_210"/>
          <p:cNvSpPr/>
          <p:nvPr/>
        </p:nvSpPr>
        <p:spPr>
          <a:xfrm>
            <a:off x="457200" y="859536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É resolver um problema de hash.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9763b39c19_1_210"/>
          <p:cNvSpPr/>
          <p:nvPr/>
        </p:nvSpPr>
        <p:spPr>
          <a:xfrm>
            <a:off x="0" y="859536"/>
            <a:ext cx="54900" cy="6585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g39763b39c19_1_210"/>
          <p:cNvCxnSpPr/>
          <p:nvPr/>
        </p:nvCxnSpPr>
        <p:spPr>
          <a:xfrm>
            <a:off x="457200" y="1591056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g39763b39c19_1_210"/>
          <p:cNvSpPr/>
          <p:nvPr/>
        </p:nvSpPr>
        <p:spPr>
          <a:xfrm>
            <a:off x="457200" y="1700784"/>
            <a:ext cx="8229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O Bitcoin usa SHA-256 — uma função hash criptográfica. Minerar é encontrar um número (nonce) que, combinado com os dados do bloco, produza um hash com características específicas. Não existe atalho: é força bruta. Quem encontrar primeiro recebe o Bitcoin.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9763b39c19_1_210"/>
          <p:cNvSpPr/>
          <p:nvPr/>
        </p:nvSpPr>
        <p:spPr>
          <a:xfrm>
            <a:off x="457200" y="3621024"/>
            <a:ext cx="8229600" cy="69480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9763b39c19_1_210"/>
          <p:cNvSpPr/>
          <p:nvPr/>
        </p:nvSpPr>
        <p:spPr>
          <a:xfrm>
            <a:off x="457200" y="3621024"/>
            <a:ext cx="54900" cy="6948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9763b39c19_1_210"/>
          <p:cNvSpPr/>
          <p:nvPr/>
        </p:nvSpPr>
        <p:spPr>
          <a:xfrm>
            <a:off x="512075" y="3657600"/>
            <a:ext cx="81747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0" i="1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A dificuldade é ajustada automaticamente para que um bloco seja minerado a cada 10 minutos — independente do poder computacional total da rede.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457200" y="420624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O que é uma função de hash?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1"/>
          <p:cNvCxnSpPr/>
          <p:nvPr/>
        </p:nvCxnSpPr>
        <p:spPr>
          <a:xfrm>
            <a:off x="457200" y="96926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1"/>
          <p:cNvSpPr/>
          <p:nvPr/>
        </p:nvSpPr>
        <p:spPr>
          <a:xfrm>
            <a:off x="457200" y="1042416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Uma função que transforma qualquer entrada em um número de tamanho fixo — o índice onde o elemento será armazenado.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457200" y="1719072"/>
            <a:ext cx="2194560" cy="64008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457200" y="1719072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"João"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2834640" y="1901952"/>
            <a:ext cx="6400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"/>
          <p:cNvSpPr/>
          <p:nvPr/>
        </p:nvSpPr>
        <p:spPr>
          <a:xfrm>
            <a:off x="3657600" y="1719072"/>
            <a:ext cx="3291840" cy="64008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3657600" y="171907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hash("João")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7132320" y="1901952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7772400" y="1719072"/>
            <a:ext cx="822960" cy="64008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"/>
          <p:cNvSpPr/>
          <p:nvPr/>
        </p:nvSpPr>
        <p:spPr>
          <a:xfrm>
            <a:off x="7772400" y="1719072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457200" y="2596896"/>
            <a:ext cx="2194560" cy="64008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457200" y="2596896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"Maria"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2834640" y="2779776"/>
            <a:ext cx="6400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3657600" y="2596896"/>
            <a:ext cx="3291840" cy="64008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3657600" y="2596896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hash("Maria")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7132320" y="2779776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"/>
          <p:cNvSpPr/>
          <p:nvPr/>
        </p:nvSpPr>
        <p:spPr>
          <a:xfrm>
            <a:off x="7772400" y="2596896"/>
            <a:ext cx="822960" cy="6400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"/>
          <p:cNvSpPr/>
          <p:nvPr/>
        </p:nvSpPr>
        <p:spPr>
          <a:xfrm>
            <a:off x="7772400" y="2596896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457200" y="3474720"/>
            <a:ext cx="2194560" cy="64008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"/>
          <p:cNvSpPr/>
          <p:nvPr/>
        </p:nvSpPr>
        <p:spPr>
          <a:xfrm>
            <a:off x="457200" y="347472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"Carlos"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2834640" y="3657600"/>
            <a:ext cx="6400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"/>
          <p:cNvSpPr/>
          <p:nvPr/>
        </p:nvSpPr>
        <p:spPr>
          <a:xfrm>
            <a:off x="3657600" y="3474720"/>
            <a:ext cx="3291840" cy="64008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"/>
          <p:cNvSpPr/>
          <p:nvPr/>
        </p:nvSpPr>
        <p:spPr>
          <a:xfrm>
            <a:off x="3657600" y="34747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hash("Carlos")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7132320" y="3657600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"/>
          <p:cNvSpPr/>
          <p:nvPr/>
        </p:nvSpPr>
        <p:spPr>
          <a:xfrm>
            <a:off x="7772400" y="3474720"/>
            <a:ext cx="822960" cy="64008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"/>
          <p:cNvSpPr/>
          <p:nvPr/>
        </p:nvSpPr>
        <p:spPr>
          <a:xfrm>
            <a:off x="7772400" y="347472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1"/>
          <p:cNvCxnSpPr/>
          <p:nvPr/>
        </p:nvCxnSpPr>
        <p:spPr>
          <a:xfrm>
            <a:off x="457200" y="4425696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0" i="1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Propriedades:  determinística (mesma entrada → mesmo índice)  |  rápida de calcular  |  distribui bem os dados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2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457200" y="420624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O que é uma tabela hash?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2"/>
          <p:cNvCxnSpPr/>
          <p:nvPr/>
        </p:nvCxnSpPr>
        <p:spPr>
          <a:xfrm>
            <a:off x="457200" y="96926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2"/>
          <p:cNvSpPr/>
          <p:nvPr/>
        </p:nvSpPr>
        <p:spPr>
          <a:xfrm>
            <a:off x="457200" y="1042416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Um array onde cada posição é calculada pela função hash — não percorrida.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457200" y="157276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"/>
          <p:cNvSpPr/>
          <p:nvPr/>
        </p:nvSpPr>
        <p:spPr>
          <a:xfrm>
            <a:off x="457200" y="157276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457200" y="2322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1225296" y="1572768"/>
            <a:ext cx="731520" cy="73152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"/>
          <p:cNvSpPr/>
          <p:nvPr/>
        </p:nvSpPr>
        <p:spPr>
          <a:xfrm>
            <a:off x="1225296" y="157276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Carlos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1225296" y="2322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1993392" y="157276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"/>
          <p:cNvSpPr/>
          <p:nvPr/>
        </p:nvSpPr>
        <p:spPr>
          <a:xfrm>
            <a:off x="1993392" y="157276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1993392" y="2322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"/>
          <p:cNvSpPr/>
          <p:nvPr/>
        </p:nvSpPr>
        <p:spPr>
          <a:xfrm>
            <a:off x="2761488" y="1572768"/>
            <a:ext cx="731520" cy="73152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"/>
          <p:cNvSpPr/>
          <p:nvPr/>
        </p:nvSpPr>
        <p:spPr>
          <a:xfrm>
            <a:off x="2761488" y="157276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João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2761488" y="2322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3529584" y="157276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"/>
          <p:cNvSpPr/>
          <p:nvPr/>
        </p:nvSpPr>
        <p:spPr>
          <a:xfrm>
            <a:off x="3529584" y="157276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"/>
          <p:cNvSpPr/>
          <p:nvPr/>
        </p:nvSpPr>
        <p:spPr>
          <a:xfrm>
            <a:off x="3529584" y="2322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4297680" y="157276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"/>
          <p:cNvSpPr/>
          <p:nvPr/>
        </p:nvSpPr>
        <p:spPr>
          <a:xfrm>
            <a:off x="4297680" y="157276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4297680" y="2322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"/>
          <p:cNvSpPr/>
          <p:nvPr/>
        </p:nvSpPr>
        <p:spPr>
          <a:xfrm>
            <a:off x="5065776" y="157276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"/>
          <p:cNvSpPr/>
          <p:nvPr/>
        </p:nvSpPr>
        <p:spPr>
          <a:xfrm>
            <a:off x="5065776" y="157276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5065776" y="2322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"/>
          <p:cNvSpPr/>
          <p:nvPr/>
        </p:nvSpPr>
        <p:spPr>
          <a:xfrm>
            <a:off x="5833872" y="1572768"/>
            <a:ext cx="731520" cy="73152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"/>
          <p:cNvSpPr/>
          <p:nvPr/>
        </p:nvSpPr>
        <p:spPr>
          <a:xfrm>
            <a:off x="5833872" y="157276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Maria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"/>
          <p:cNvSpPr/>
          <p:nvPr/>
        </p:nvSpPr>
        <p:spPr>
          <a:xfrm>
            <a:off x="5833872" y="2322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6601968" y="157276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"/>
          <p:cNvSpPr/>
          <p:nvPr/>
        </p:nvSpPr>
        <p:spPr>
          <a:xfrm>
            <a:off x="6601968" y="157276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"/>
          <p:cNvSpPr/>
          <p:nvPr/>
        </p:nvSpPr>
        <p:spPr>
          <a:xfrm>
            <a:off x="6601968" y="2322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7370064" y="157276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"/>
          <p:cNvSpPr/>
          <p:nvPr/>
        </p:nvSpPr>
        <p:spPr>
          <a:xfrm>
            <a:off x="7370064" y="157276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7370064" y="2322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2"/>
          <p:cNvCxnSpPr/>
          <p:nvPr/>
        </p:nvCxnSpPr>
        <p:spPr>
          <a:xfrm>
            <a:off x="1591056" y="256032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2"/>
          <p:cNvSpPr/>
          <p:nvPr/>
        </p:nvSpPr>
        <p:spPr>
          <a:xfrm>
            <a:off x="128016" y="285292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Carlos → hash →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2"/>
          <p:cNvCxnSpPr/>
          <p:nvPr/>
        </p:nvCxnSpPr>
        <p:spPr>
          <a:xfrm>
            <a:off x="3127248" y="256032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2"/>
          <p:cNvSpPr/>
          <p:nvPr/>
        </p:nvSpPr>
        <p:spPr>
          <a:xfrm>
            <a:off x="1664208" y="285292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João → hash →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"/>
          <p:cNvCxnSpPr/>
          <p:nvPr/>
        </p:nvCxnSpPr>
        <p:spPr>
          <a:xfrm>
            <a:off x="6199632" y="256032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"/>
          <p:cNvSpPr/>
          <p:nvPr/>
        </p:nvSpPr>
        <p:spPr>
          <a:xfrm>
            <a:off x="4736592" y="285292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Maria → hash → 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2"/>
          <p:cNvCxnSpPr/>
          <p:nvPr/>
        </p:nvCxnSpPr>
        <p:spPr>
          <a:xfrm>
            <a:off x="457200" y="356616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2"/>
          <p:cNvSpPr/>
          <p:nvPr/>
        </p:nvSpPr>
        <p:spPr>
          <a:xfrm>
            <a:off x="457200" y="3675888"/>
            <a:ext cx="1645920" cy="402336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"/>
          <p:cNvSpPr/>
          <p:nvPr/>
        </p:nvSpPr>
        <p:spPr>
          <a:xfrm>
            <a:off x="457200" y="3675888"/>
            <a:ext cx="1645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Array normal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2231136" y="3730752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Percorre posição a posição até encontrar.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7498080" y="3675888"/>
            <a:ext cx="1188720" cy="402336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"/>
          <p:cNvSpPr/>
          <p:nvPr/>
        </p:nvSpPr>
        <p:spPr>
          <a:xfrm>
            <a:off x="7498080" y="3675888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"/>
          <p:cNvSpPr/>
          <p:nvPr/>
        </p:nvSpPr>
        <p:spPr>
          <a:xfrm>
            <a:off x="457200" y="4187952"/>
            <a:ext cx="1645920" cy="40233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"/>
          <p:cNvSpPr/>
          <p:nvPr/>
        </p:nvSpPr>
        <p:spPr>
          <a:xfrm>
            <a:off x="457200" y="4187952"/>
            <a:ext cx="1645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Tabela hash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"/>
          <p:cNvSpPr/>
          <p:nvPr/>
        </p:nvSpPr>
        <p:spPr>
          <a:xfrm>
            <a:off x="2231136" y="4242816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Calcula o índice diretamente — vai direto.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"/>
          <p:cNvSpPr/>
          <p:nvPr/>
        </p:nvSpPr>
        <p:spPr>
          <a:xfrm>
            <a:off x="7498080" y="4187952"/>
            <a:ext cx="1188720" cy="402336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"/>
          <p:cNvSpPr/>
          <p:nvPr/>
        </p:nvSpPr>
        <p:spPr>
          <a:xfrm>
            <a:off x="7498080" y="4187952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O(1)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3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457200" y="420624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Colisões — o que são e por que acontecem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3"/>
          <p:cNvCxnSpPr/>
          <p:nvPr/>
        </p:nvCxnSpPr>
        <p:spPr>
          <a:xfrm>
            <a:off x="457200" y="96926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3"/>
          <p:cNvSpPr/>
          <p:nvPr/>
        </p:nvSpPr>
        <p:spPr>
          <a:xfrm>
            <a:off x="457200" y="1042416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Uma colisão ocorre quando a função hash retorna o mesmo índice para duas entradas diferentes.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457200" y="1609344"/>
            <a:ext cx="2011680" cy="658368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"/>
          <p:cNvSpPr/>
          <p:nvPr/>
        </p:nvSpPr>
        <p:spPr>
          <a:xfrm>
            <a:off x="457200" y="1609344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"Ana"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2651760" y="1792224"/>
            <a:ext cx="54864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"/>
          <p:cNvSpPr/>
          <p:nvPr/>
        </p:nvSpPr>
        <p:spPr>
          <a:xfrm>
            <a:off x="3383280" y="1719072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hash() = 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5760720" y="1792224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"/>
          <p:cNvSpPr/>
          <p:nvPr/>
        </p:nvSpPr>
        <p:spPr>
          <a:xfrm>
            <a:off x="6400800" y="1609344"/>
            <a:ext cx="731520" cy="65836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"/>
          <p:cNvSpPr/>
          <p:nvPr/>
        </p:nvSpPr>
        <p:spPr>
          <a:xfrm>
            <a:off x="6400800" y="1609344"/>
            <a:ext cx="731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457200" y="2487168"/>
            <a:ext cx="2011680" cy="658368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"/>
          <p:cNvSpPr/>
          <p:nvPr/>
        </p:nvSpPr>
        <p:spPr>
          <a:xfrm>
            <a:off x="457200" y="2487168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"Pedro"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"/>
          <p:cNvSpPr/>
          <p:nvPr/>
        </p:nvSpPr>
        <p:spPr>
          <a:xfrm>
            <a:off x="2651760" y="2670048"/>
            <a:ext cx="54864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"/>
          <p:cNvSpPr/>
          <p:nvPr/>
        </p:nvSpPr>
        <p:spPr>
          <a:xfrm>
            <a:off x="3383280" y="2596896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hash() = 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"/>
          <p:cNvSpPr/>
          <p:nvPr/>
        </p:nvSpPr>
        <p:spPr>
          <a:xfrm>
            <a:off x="5760720" y="2670048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"/>
          <p:cNvSpPr/>
          <p:nvPr/>
        </p:nvSpPr>
        <p:spPr>
          <a:xfrm>
            <a:off x="6400800" y="2487168"/>
            <a:ext cx="731520" cy="65836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"/>
          <p:cNvSpPr/>
          <p:nvPr/>
        </p:nvSpPr>
        <p:spPr>
          <a:xfrm>
            <a:off x="6400800" y="2487168"/>
            <a:ext cx="731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"/>
          <p:cNvSpPr/>
          <p:nvPr/>
        </p:nvSpPr>
        <p:spPr>
          <a:xfrm>
            <a:off x="7223760" y="18288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"/>
          <p:cNvSpPr/>
          <p:nvPr/>
        </p:nvSpPr>
        <p:spPr>
          <a:xfrm>
            <a:off x="7315200" y="26151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Conflito!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3"/>
          <p:cNvCxnSpPr/>
          <p:nvPr/>
        </p:nvCxnSpPr>
        <p:spPr>
          <a:xfrm>
            <a:off x="457200" y="325070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3"/>
          <p:cNvSpPr/>
          <p:nvPr/>
        </p:nvSpPr>
        <p:spPr>
          <a:xfrm>
            <a:off x="457200" y="3301826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Por que acontece?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"/>
          <p:cNvSpPr/>
          <p:nvPr/>
        </p:nvSpPr>
        <p:spPr>
          <a:xfrm>
            <a:off x="457200" y="3645764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O espaço de entradas é infinito, mas o tamanho da tabela é finito. Pelo princípio da casa dos pombos, colisões são inevitáveis — o que muda é como você lida com elas.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"/>
          <p:cNvSpPr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0" i="1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Duas estratégias principais: encadeamento e endereçamento aberto.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4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457200" y="420624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Resolução: encadeamento (chaining)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4"/>
          <p:cNvCxnSpPr/>
          <p:nvPr/>
        </p:nvCxnSpPr>
        <p:spPr>
          <a:xfrm>
            <a:off x="457200" y="96926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4"/>
          <p:cNvSpPr/>
          <p:nvPr/>
        </p:nvSpPr>
        <p:spPr>
          <a:xfrm>
            <a:off x="457200" y="1042416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Cada posição da tabela aponta para uma lista ligada. Colisões são adicionadas no final da lista.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457200" y="1572768"/>
            <a:ext cx="548640" cy="512064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"/>
          <p:cNvSpPr/>
          <p:nvPr/>
        </p:nvSpPr>
        <p:spPr>
          <a:xfrm>
            <a:off x="457200" y="1572768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1188720" y="1572768"/>
            <a:ext cx="1463040" cy="512064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"/>
          <p:cNvSpPr/>
          <p:nvPr/>
        </p:nvSpPr>
        <p:spPr>
          <a:xfrm>
            <a:off x="1188720" y="1572768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457200" y="2194560"/>
            <a:ext cx="548640" cy="512064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"/>
          <p:cNvSpPr/>
          <p:nvPr/>
        </p:nvSpPr>
        <p:spPr>
          <a:xfrm>
            <a:off x="457200" y="2194560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1188720" y="2194560"/>
            <a:ext cx="1463040" cy="5120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"/>
          <p:cNvSpPr/>
          <p:nvPr/>
        </p:nvSpPr>
        <p:spPr>
          <a:xfrm>
            <a:off x="1188720" y="2194560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Carlos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457200" y="2816352"/>
            <a:ext cx="548640" cy="512064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"/>
          <p:cNvSpPr/>
          <p:nvPr/>
        </p:nvSpPr>
        <p:spPr>
          <a:xfrm>
            <a:off x="457200" y="2816352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1188720" y="2816352"/>
            <a:ext cx="1463040" cy="512064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"/>
          <p:cNvSpPr/>
          <p:nvPr/>
        </p:nvSpPr>
        <p:spPr>
          <a:xfrm>
            <a:off x="1188720" y="2816352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457200" y="3438144"/>
            <a:ext cx="548640" cy="512064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"/>
          <p:cNvSpPr/>
          <p:nvPr/>
        </p:nvSpPr>
        <p:spPr>
          <a:xfrm>
            <a:off x="457200" y="3438144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1188720" y="3438144"/>
            <a:ext cx="1463040" cy="512064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"/>
          <p:cNvSpPr/>
          <p:nvPr/>
        </p:nvSpPr>
        <p:spPr>
          <a:xfrm>
            <a:off x="1188720" y="3438144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Ana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2670048" y="3557016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"/>
          <p:cNvSpPr/>
          <p:nvPr/>
        </p:nvSpPr>
        <p:spPr>
          <a:xfrm>
            <a:off x="2926080" y="3438144"/>
            <a:ext cx="1463040" cy="512064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"/>
          <p:cNvSpPr/>
          <p:nvPr/>
        </p:nvSpPr>
        <p:spPr>
          <a:xfrm>
            <a:off x="2926080" y="3438144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Pedro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457200" y="4059936"/>
            <a:ext cx="548640" cy="512064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"/>
          <p:cNvSpPr/>
          <p:nvPr/>
        </p:nvSpPr>
        <p:spPr>
          <a:xfrm>
            <a:off x="457200" y="4059936"/>
            <a:ext cx="548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1188720" y="4059936"/>
            <a:ext cx="1463040" cy="512064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"/>
          <p:cNvSpPr/>
          <p:nvPr/>
        </p:nvSpPr>
        <p:spPr>
          <a:xfrm>
            <a:off x="1188720" y="405993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4"/>
          <p:cNvCxnSpPr/>
          <p:nvPr/>
        </p:nvCxnSpPr>
        <p:spPr>
          <a:xfrm>
            <a:off x="457200" y="4604425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4"/>
          <p:cNvSpPr/>
          <p:nvPr/>
        </p:nvSpPr>
        <p:spPr>
          <a:xfrm>
            <a:off x="457200" y="4615233"/>
            <a:ext cx="502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Vantagem: simples de implementar, lida bem com muitas colisões.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"/>
          <p:cNvSpPr/>
          <p:nvPr/>
        </p:nvSpPr>
        <p:spPr>
          <a:xfrm>
            <a:off x="457200" y="4861074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Desvantagem: uso de memória extra para os ponteiros.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5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5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457200" y="420624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Resolução: endereçamento aberto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5"/>
          <p:cNvCxnSpPr/>
          <p:nvPr/>
        </p:nvCxnSpPr>
        <p:spPr>
          <a:xfrm>
            <a:off x="457200" y="96926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5"/>
          <p:cNvSpPr/>
          <p:nvPr/>
        </p:nvSpPr>
        <p:spPr>
          <a:xfrm>
            <a:off x="457200" y="1042416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Quando ocorre colisão, procura a próxima posição disponível dentro da própria tabela — sem listas externas.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5"/>
          <p:cNvSpPr/>
          <p:nvPr/>
        </p:nvSpPr>
        <p:spPr>
          <a:xfrm>
            <a:off x="457200" y="14996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500"/>
              <a:buFont typeface="Consolas"/>
              <a:buNone/>
            </a:pPr>
            <a:r>
              <a:rPr b="0" i="1" lang="en-US" sz="15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Sondagem linear: tenta índice+1, índice+2... até achar vazio.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457200" y="193852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"/>
          <p:cNvSpPr/>
          <p:nvPr/>
        </p:nvSpPr>
        <p:spPr>
          <a:xfrm>
            <a:off x="457200" y="193852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457200" y="268833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1225296" y="1938528"/>
            <a:ext cx="731520" cy="73152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"/>
          <p:cNvSpPr/>
          <p:nvPr/>
        </p:nvSpPr>
        <p:spPr>
          <a:xfrm>
            <a:off x="1225296" y="193852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Carlos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1225296" y="268833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1993392" y="193852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"/>
          <p:cNvSpPr/>
          <p:nvPr/>
        </p:nvSpPr>
        <p:spPr>
          <a:xfrm>
            <a:off x="1993392" y="193852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1993392" y="268833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2761488" y="1938528"/>
            <a:ext cx="731520" cy="73152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"/>
          <p:cNvSpPr/>
          <p:nvPr/>
        </p:nvSpPr>
        <p:spPr>
          <a:xfrm>
            <a:off x="2761488" y="193852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Ana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5"/>
          <p:cNvSpPr/>
          <p:nvPr/>
        </p:nvSpPr>
        <p:spPr>
          <a:xfrm>
            <a:off x="2761488" y="268833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3529584" y="1938528"/>
            <a:ext cx="731520" cy="731520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5"/>
          <p:cNvSpPr/>
          <p:nvPr/>
        </p:nvSpPr>
        <p:spPr>
          <a:xfrm>
            <a:off x="3529584" y="193852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Pedro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5"/>
          <p:cNvSpPr/>
          <p:nvPr/>
        </p:nvSpPr>
        <p:spPr>
          <a:xfrm>
            <a:off x="3529584" y="268833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5"/>
          <p:cNvSpPr/>
          <p:nvPr/>
        </p:nvSpPr>
        <p:spPr>
          <a:xfrm>
            <a:off x="4297680" y="193852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"/>
          <p:cNvSpPr/>
          <p:nvPr/>
        </p:nvSpPr>
        <p:spPr>
          <a:xfrm>
            <a:off x="4297680" y="193852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5"/>
          <p:cNvSpPr/>
          <p:nvPr/>
        </p:nvSpPr>
        <p:spPr>
          <a:xfrm>
            <a:off x="4297680" y="268833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5"/>
          <p:cNvSpPr/>
          <p:nvPr/>
        </p:nvSpPr>
        <p:spPr>
          <a:xfrm>
            <a:off x="5065776" y="193852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5"/>
          <p:cNvSpPr/>
          <p:nvPr/>
        </p:nvSpPr>
        <p:spPr>
          <a:xfrm>
            <a:off x="5065776" y="193852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5"/>
          <p:cNvSpPr/>
          <p:nvPr/>
        </p:nvSpPr>
        <p:spPr>
          <a:xfrm>
            <a:off x="5065776" y="268833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"/>
          <p:cNvSpPr/>
          <p:nvPr/>
        </p:nvSpPr>
        <p:spPr>
          <a:xfrm>
            <a:off x="5833872" y="1938528"/>
            <a:ext cx="731520" cy="73152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"/>
          <p:cNvSpPr/>
          <p:nvPr/>
        </p:nvSpPr>
        <p:spPr>
          <a:xfrm>
            <a:off x="5833872" y="193852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Maria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5"/>
          <p:cNvSpPr/>
          <p:nvPr/>
        </p:nvSpPr>
        <p:spPr>
          <a:xfrm>
            <a:off x="5833872" y="268833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6601968" y="193852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"/>
          <p:cNvSpPr/>
          <p:nvPr/>
        </p:nvSpPr>
        <p:spPr>
          <a:xfrm>
            <a:off x="6601968" y="193852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6601968" y="268833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7370064" y="1938528"/>
            <a:ext cx="731520" cy="73152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"/>
          <p:cNvSpPr/>
          <p:nvPr/>
        </p:nvSpPr>
        <p:spPr>
          <a:xfrm>
            <a:off x="7370064" y="193852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"/>
          <p:cNvSpPr/>
          <p:nvPr/>
        </p:nvSpPr>
        <p:spPr>
          <a:xfrm>
            <a:off x="7370064" y="268833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457200" y="29992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Pedro → hash() = 3  →  posição 3 ocupada por Ana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457200" y="32735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→  tenta 4  →  vazia!  →  Pedro vai para a posição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5"/>
          <p:cNvCxnSpPr/>
          <p:nvPr/>
        </p:nvCxnSpPr>
        <p:spPr>
          <a:xfrm>
            <a:off x="457200" y="36576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5"/>
          <p:cNvSpPr/>
          <p:nvPr/>
        </p:nvSpPr>
        <p:spPr>
          <a:xfrm>
            <a:off x="457200" y="3767328"/>
            <a:ext cx="2560320" cy="292608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"/>
          <p:cNvSpPr/>
          <p:nvPr/>
        </p:nvSpPr>
        <p:spPr>
          <a:xfrm>
            <a:off x="457200" y="376732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Sondagem linear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"/>
          <p:cNvSpPr/>
          <p:nvPr/>
        </p:nvSpPr>
        <p:spPr>
          <a:xfrm>
            <a:off x="3163824" y="378561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— tenta +1, +2, +3...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"/>
          <p:cNvSpPr/>
          <p:nvPr/>
        </p:nvSpPr>
        <p:spPr>
          <a:xfrm>
            <a:off x="457200" y="4133088"/>
            <a:ext cx="2560320" cy="292608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"/>
          <p:cNvSpPr/>
          <p:nvPr/>
        </p:nvSpPr>
        <p:spPr>
          <a:xfrm>
            <a:off x="457200" y="413308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Sondagem quadrática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3163824" y="415137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— tenta +1², +2², +3²...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"/>
          <p:cNvSpPr/>
          <p:nvPr/>
        </p:nvSpPr>
        <p:spPr>
          <a:xfrm>
            <a:off x="457200" y="4498848"/>
            <a:ext cx="2560320" cy="292608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"/>
          <p:cNvSpPr/>
          <p:nvPr/>
        </p:nvSpPr>
        <p:spPr>
          <a:xfrm>
            <a:off x="457200" y="449884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Hash duplo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5"/>
          <p:cNvSpPr/>
          <p:nvPr/>
        </p:nvSpPr>
        <p:spPr>
          <a:xfrm>
            <a:off x="3163824" y="451713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— aplica uma segunda função hash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6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6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457200" y="420624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Complexidade — média vs pior caso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6"/>
          <p:cNvCxnSpPr/>
          <p:nvPr/>
        </p:nvCxnSpPr>
        <p:spPr>
          <a:xfrm>
            <a:off x="457200" y="96926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6"/>
          <p:cNvSpPr/>
          <p:nvPr/>
        </p:nvSpPr>
        <p:spPr>
          <a:xfrm>
            <a:off x="457200" y="1078992"/>
            <a:ext cx="2377440" cy="420624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"/>
          <p:cNvSpPr/>
          <p:nvPr/>
        </p:nvSpPr>
        <p:spPr>
          <a:xfrm>
            <a:off x="457200" y="1078992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Operação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3017520" y="1078992"/>
            <a:ext cx="2560320" cy="420624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"/>
          <p:cNvSpPr/>
          <p:nvPr/>
        </p:nvSpPr>
        <p:spPr>
          <a:xfrm>
            <a:off x="3017520" y="1078992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Caso médio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6"/>
          <p:cNvSpPr/>
          <p:nvPr/>
        </p:nvSpPr>
        <p:spPr>
          <a:xfrm>
            <a:off x="5760720" y="1078992"/>
            <a:ext cx="2743200" cy="420624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6"/>
          <p:cNvSpPr/>
          <p:nvPr/>
        </p:nvSpPr>
        <p:spPr>
          <a:xfrm>
            <a:off x="5760720" y="1078992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Pior caso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457200" y="1572768"/>
            <a:ext cx="2377440" cy="54864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6"/>
          <p:cNvSpPr/>
          <p:nvPr/>
        </p:nvSpPr>
        <p:spPr>
          <a:xfrm>
            <a:off x="457200" y="1572768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Inserção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3017520" y="1572768"/>
            <a:ext cx="2560320" cy="54864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6"/>
          <p:cNvSpPr/>
          <p:nvPr/>
        </p:nvSpPr>
        <p:spPr>
          <a:xfrm>
            <a:off x="3017520" y="157276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O(1)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5760720" y="1572768"/>
            <a:ext cx="2743200" cy="54864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6"/>
          <p:cNvSpPr/>
          <p:nvPr/>
        </p:nvSpPr>
        <p:spPr>
          <a:xfrm>
            <a:off x="5760720" y="157276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457200" y="2231136"/>
            <a:ext cx="2377440" cy="54864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6"/>
          <p:cNvSpPr/>
          <p:nvPr/>
        </p:nvSpPr>
        <p:spPr>
          <a:xfrm>
            <a:off x="457200" y="223113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Busca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6"/>
          <p:cNvSpPr/>
          <p:nvPr/>
        </p:nvSpPr>
        <p:spPr>
          <a:xfrm>
            <a:off x="3017520" y="2231136"/>
            <a:ext cx="2560320" cy="54864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6"/>
          <p:cNvSpPr/>
          <p:nvPr/>
        </p:nvSpPr>
        <p:spPr>
          <a:xfrm>
            <a:off x="3017520" y="2231136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O(1)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5760720" y="2231136"/>
            <a:ext cx="2743200" cy="548640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6"/>
          <p:cNvSpPr/>
          <p:nvPr/>
        </p:nvSpPr>
        <p:spPr>
          <a:xfrm>
            <a:off x="5760720" y="2231136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6"/>
          <p:cNvSpPr/>
          <p:nvPr/>
        </p:nvSpPr>
        <p:spPr>
          <a:xfrm>
            <a:off x="457200" y="2889504"/>
            <a:ext cx="2377440" cy="54864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6"/>
          <p:cNvSpPr/>
          <p:nvPr/>
        </p:nvSpPr>
        <p:spPr>
          <a:xfrm>
            <a:off x="457200" y="2889504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Remoção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"/>
          <p:cNvSpPr/>
          <p:nvPr/>
        </p:nvSpPr>
        <p:spPr>
          <a:xfrm>
            <a:off x="3017520" y="2889504"/>
            <a:ext cx="2560320" cy="54864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6"/>
          <p:cNvSpPr/>
          <p:nvPr/>
        </p:nvSpPr>
        <p:spPr>
          <a:xfrm>
            <a:off x="3017520" y="288950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O(1)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"/>
          <p:cNvSpPr/>
          <p:nvPr/>
        </p:nvSpPr>
        <p:spPr>
          <a:xfrm>
            <a:off x="5760720" y="2889504"/>
            <a:ext cx="2743200" cy="54864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6"/>
          <p:cNvSpPr/>
          <p:nvPr/>
        </p:nvSpPr>
        <p:spPr>
          <a:xfrm>
            <a:off x="5760720" y="2889504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6"/>
          <p:cNvCxnSpPr/>
          <p:nvPr/>
        </p:nvCxnSpPr>
        <p:spPr>
          <a:xfrm>
            <a:off x="457200" y="35254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6"/>
          <p:cNvSpPr/>
          <p:nvPr/>
        </p:nvSpPr>
        <p:spPr>
          <a:xfrm>
            <a:off x="457200" y="3572817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Por que O(n) no pior caso?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6"/>
          <p:cNvSpPr/>
          <p:nvPr/>
        </p:nvSpPr>
        <p:spPr>
          <a:xfrm>
            <a:off x="457200" y="403042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Se todas as chaves colidirem na mesma posição, a busca vira uma busca linear na lista. Isso ocorre com funções hash ruins ou tabelas muito pequenas.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7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7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ESTRUTURA DE DADOS — CAP. 5  |  TABELAS 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457200" y="420624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onsolas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Recapitulando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7"/>
          <p:cNvCxnSpPr/>
          <p:nvPr/>
        </p:nvCxnSpPr>
        <p:spPr>
          <a:xfrm>
            <a:off x="457200" y="96926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7"/>
          <p:cNvSpPr/>
          <p:nvPr/>
        </p:nvSpPr>
        <p:spPr>
          <a:xfrm>
            <a:off x="457200" y="1078992"/>
            <a:ext cx="4206240" cy="109728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7"/>
          <p:cNvSpPr/>
          <p:nvPr/>
        </p:nvSpPr>
        <p:spPr>
          <a:xfrm>
            <a:off x="457200" y="1078992"/>
            <a:ext cx="54864" cy="109728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7"/>
          <p:cNvSpPr/>
          <p:nvPr/>
        </p:nvSpPr>
        <p:spPr>
          <a:xfrm>
            <a:off x="621792" y="1170432"/>
            <a:ext cx="3877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Função de hash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621792" y="1499616"/>
            <a:ext cx="38770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Transforma qualquer entrada em um índice numérico de tamanho fixo.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4846320" y="1078992"/>
            <a:ext cx="4206240" cy="109728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7"/>
          <p:cNvSpPr/>
          <p:nvPr/>
        </p:nvSpPr>
        <p:spPr>
          <a:xfrm>
            <a:off x="4846320" y="1078992"/>
            <a:ext cx="54864" cy="109728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7"/>
          <p:cNvSpPr/>
          <p:nvPr/>
        </p:nvSpPr>
        <p:spPr>
          <a:xfrm>
            <a:off x="5010912" y="1170432"/>
            <a:ext cx="3877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Tabela hash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5010912" y="1499616"/>
            <a:ext cx="38770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Array onde a posição é calculada, não percorrida — acesso O(1).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457200" y="2340864"/>
            <a:ext cx="4206240" cy="109728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7"/>
          <p:cNvSpPr/>
          <p:nvPr/>
        </p:nvSpPr>
        <p:spPr>
          <a:xfrm>
            <a:off x="457200" y="2340864"/>
            <a:ext cx="54864" cy="109728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"/>
          <p:cNvSpPr/>
          <p:nvPr/>
        </p:nvSpPr>
        <p:spPr>
          <a:xfrm>
            <a:off x="621792" y="2432304"/>
            <a:ext cx="3877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Colisão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621792" y="2761488"/>
            <a:ext cx="38770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Duas entradas diferentes produzem o mesmo índice — inevitável.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4846320" y="2340864"/>
            <a:ext cx="4206240" cy="109728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7"/>
          <p:cNvSpPr/>
          <p:nvPr/>
        </p:nvSpPr>
        <p:spPr>
          <a:xfrm>
            <a:off x="4846320" y="2340864"/>
            <a:ext cx="54864" cy="109728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7"/>
          <p:cNvSpPr/>
          <p:nvPr/>
        </p:nvSpPr>
        <p:spPr>
          <a:xfrm>
            <a:off x="5010912" y="2432304"/>
            <a:ext cx="3877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Encadeamento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5010912" y="2761488"/>
            <a:ext cx="38770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Lista ligada em cada posição — lida com colisões externamente.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457200" y="3602736"/>
            <a:ext cx="4206240" cy="109728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7"/>
          <p:cNvSpPr/>
          <p:nvPr/>
        </p:nvSpPr>
        <p:spPr>
          <a:xfrm>
            <a:off x="457200" y="3602736"/>
            <a:ext cx="54864" cy="10972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7"/>
          <p:cNvSpPr/>
          <p:nvPr/>
        </p:nvSpPr>
        <p:spPr>
          <a:xfrm>
            <a:off x="621792" y="3694176"/>
            <a:ext cx="3877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Endereçamento aberto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621792" y="4023360"/>
            <a:ext cx="38770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Procura posição vazia dentro da tabela — sem memória extra.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4846320" y="3602736"/>
            <a:ext cx="4206240" cy="1097280"/>
          </a:xfrm>
          <a:prstGeom prst="rect">
            <a:avLst/>
          </a:prstGeom>
          <a:solidFill>
            <a:srgbClr val="1E1F26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7"/>
          <p:cNvSpPr/>
          <p:nvPr/>
        </p:nvSpPr>
        <p:spPr>
          <a:xfrm>
            <a:off x="4846320" y="3602736"/>
            <a:ext cx="54864" cy="1097280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7"/>
          <p:cNvSpPr/>
          <p:nvPr/>
        </p:nvSpPr>
        <p:spPr>
          <a:xfrm>
            <a:off x="5010912" y="3694176"/>
            <a:ext cx="3877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Complexidade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5010912" y="4023360"/>
            <a:ext cx="38770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O(1) na média — O(n) no pior caso com muitas colisões.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2026-04-16T19:19:09Z</dcterms:created>
  <dc:creator>PptxGenJS</dc:creator>
</cp:coreProperties>
</file>