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CAdJoPFd7734bVjBNbutdzUt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Revisão de C++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1480" y="221284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Fundamentos para Estruturas de Dados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1480" y="3017520"/>
            <a:ext cx="1920240" cy="32918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" y="30083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Lógica &amp; Fluxo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514600" y="3017520"/>
            <a:ext cx="1920240" cy="32918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514600" y="30083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Funções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17720" y="3017520"/>
            <a:ext cx="1920240" cy="329184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617720" y="30083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Arrays &amp; Strings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720840" y="3017520"/>
            <a:ext cx="1920240" cy="329184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720840" y="30083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Ponteiros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alibri"/>
                <a:ea typeface="Calibri"/>
                <a:cs typeface="Calibri"/>
                <a:sym typeface="Calibri"/>
              </a:rPr>
              <a:t>Aulas 01–06  ·  Bloco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11480" y="256032"/>
            <a:ext cx="987552" cy="2560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11480" y="246888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 que vamos revisar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32688" y="174650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Lógica &amp; Controle de Fluxo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32688" y="195681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if / else · for · while · do-while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2487168"/>
            <a:ext cx="402336" cy="40233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1480" y="24871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32688" y="24963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Funções &amp; Escopo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32688" y="270662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declaração · passagem de valor vs. referência · retorno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3236976"/>
            <a:ext cx="402336" cy="402336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11480" y="32369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32688" y="324612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Arrays &amp; Strings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32688" y="34564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arrays estáticos · iteração · manipulação de strings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11480" y="3986784"/>
            <a:ext cx="402336" cy="402336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11480" y="39867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32688" y="399592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Ponteiros &amp; Memória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32688" y="420624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endereços · ponteiros · new / delete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411480" y="256032"/>
            <a:ext cx="1938528" cy="2560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11480" y="246888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LÓGICA &amp; FLUXO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Tomada de decisão — if / else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Execute blocos diferentes dependendo de uma condição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411480" y="1737360"/>
            <a:ext cx="4572000" cy="24231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11480" y="1737360"/>
            <a:ext cx="292608" cy="24231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29768" y="1810512"/>
            <a:ext cx="4480560" cy="2313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nota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75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2   3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(nota &gt;=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60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"Aprovado"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"Reprovado"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212080" y="1737360"/>
            <a:ext cx="3520440" cy="7315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212080" y="1737360"/>
            <a:ext cx="45720" cy="73152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321808" y="1810512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21808" y="203911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Uma expressão booleana: true ou false.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nota &gt;= 60  →  true se nota for 75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212080" y="2578608"/>
            <a:ext cx="3520440" cy="7315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5212080" y="2578608"/>
            <a:ext cx="45720" cy="73152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321808" y="2651760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Bloco 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21808" y="288036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Executa SOMENTE quando a condição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é verdadeira.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212080" y="3419856"/>
            <a:ext cx="3520440" cy="71323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5212080" y="3419856"/>
            <a:ext cx="45720" cy="7132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321808" y="3493008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Bloco else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321808" y="372160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Executa quando a condição é falsa.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Sempre é o caminho alternativo.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411480" y="256032"/>
            <a:ext cx="1938528" cy="2560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11480" y="246888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LÓGICA &amp; FLUXO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Repetição com contador — for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Quando você sabe quantas vezes vai repetir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411480" y="1737360"/>
            <a:ext cx="5120640" cy="21945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11480" y="1737360"/>
            <a:ext cx="292608" cy="21945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29768" y="1810512"/>
            <a:ext cx="5029200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imprime 0, 1, 2, 3,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i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i &lt;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i &lt;&lt;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5   6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saída: 0 1 2 3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349240" y="173736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ANATOMIA DO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349240" y="2057400"/>
            <a:ext cx="3337560" cy="84124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349240" y="2057400"/>
            <a:ext cx="45720" cy="84124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458968" y="213055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458968" y="2359152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int i =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Executa uma vez antes do loop.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349240" y="3017520"/>
            <a:ext cx="3337560" cy="84124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349240" y="3017520"/>
            <a:ext cx="45720" cy="84124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458968" y="309067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Condição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58968" y="3319272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 &lt; 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Verificada antes de cada iteração.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349240" y="3977640"/>
            <a:ext cx="3337560" cy="84124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349240" y="3977640"/>
            <a:ext cx="45720" cy="841248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458968" y="405079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Incremento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58968" y="4279392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i++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Executa ao final de cada iteração.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411480" y="256032"/>
            <a:ext cx="1938528" cy="25603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11480" y="246888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LÓGICA &amp; FLUXO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Repetição condicional — while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Quando você não sabe quantas vezes vai repetir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411480" y="1737360"/>
            <a:ext cx="4937760" cy="26517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11480" y="1737360"/>
            <a:ext cx="292608" cy="26517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29768" y="1810512"/>
            <a:ext cx="4846320" cy="254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senha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2   3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(senha !=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1234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"Digite a senha: 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cin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&gt;&gt; senha;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7   8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"Acesso liberado!"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532120" y="1737360"/>
            <a:ext cx="3154680" cy="8046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532120" y="1737360"/>
            <a:ext cx="45720" cy="80467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641848" y="1810512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Regra do while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641848" y="2039112"/>
            <a:ext cx="2971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 condição é verificada ANTES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 executar o bloco.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532120" y="2633472"/>
            <a:ext cx="3154680" cy="8046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532120" y="2633472"/>
            <a:ext cx="45720" cy="80467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641848" y="2706624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Cuidado: loop infinito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41848" y="2935224"/>
            <a:ext cx="29718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 a condição nunca virar false,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 programa trava.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532120" y="3529584"/>
            <a:ext cx="3154680" cy="694944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532120" y="3529584"/>
            <a:ext cx="45720" cy="69494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641848" y="3602736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For vs While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641848" y="3831336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Use for quando souber o nº de vezes.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Use while para condições abertas.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Pratique: Lógica &amp; Fluxo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Resolver individualmente — depois discutimos em grupo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32688" y="173736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042416" y="181051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Escreva um programa que lê 5 notas e imprime quantas são maiores que 7.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32688" y="269748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1042416" y="277063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Usando while, leia números do usuário e pare quando ele digitar 0. Imprima a soma.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1480" y="3657600"/>
            <a:ext cx="402336" cy="402336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11480" y="36576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932688" y="365760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042416" y="373075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Use for para imprimir a tabuada do número que o usuário digitar (1 a 10).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⏱  10 minutos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411480" y="256032"/>
            <a:ext cx="1106424" cy="2560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11480" y="246888"/>
            <a:ext cx="1106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FUNÇÕES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Anatomia de uma função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Um bloco de código com nome, que pode receber dados e devolver resultado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411480" y="1737360"/>
            <a:ext cx="5120640" cy="28346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11480" y="1737360"/>
            <a:ext cx="292608" cy="28346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29768" y="1810512"/>
            <a:ext cx="502920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tipo_retorno  nome  (parâmetros)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somar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a,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b)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a + b;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5   6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main()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resultado =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somar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8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resultado;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imprime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9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715000" y="1737360"/>
            <a:ext cx="2971800" cy="84124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5715000" y="1737360"/>
            <a:ext cx="45720" cy="84124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824728" y="1810512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Tipo de retorno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824728" y="2039112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int — o que a função devolve.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void se não devolver nada.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715000" y="2706624"/>
            <a:ext cx="2971800" cy="84124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715000" y="2706624"/>
            <a:ext cx="45720" cy="84124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824728" y="2779776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Parâmetros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824728" y="3008376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Dados de entrada: int a, int b.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São variáveis locais da função.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715000" y="3675888"/>
            <a:ext cx="2971800" cy="84124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715000" y="3675888"/>
            <a:ext cx="45720" cy="841248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824728" y="3749040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824728" y="397764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Encerra a função e devolve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 valor para quem chamou.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411480" y="256032"/>
            <a:ext cx="1106424" cy="2560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11480" y="246888"/>
            <a:ext cx="1106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FUNÇÕES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Passagem por valor vs. por referência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 diferença que determina se a função altera a variável original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8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8"/>
          <p:cNvSpPr/>
          <p:nvPr/>
        </p:nvSpPr>
        <p:spPr>
          <a:xfrm>
            <a:off x="411480" y="17373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POR VALOR  —  copia o 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11480" y="2048256"/>
            <a:ext cx="4023360" cy="24871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11480" y="2048256"/>
            <a:ext cx="292608" cy="248716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29768" y="2121408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dobrar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x)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x *=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só muda cópia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4   5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dobrar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(n);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n ainda é 5 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709160" y="17373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POR REFERÊNCIA  —  acessa o 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709160" y="2048256"/>
            <a:ext cx="4023360" cy="2487168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709160" y="2048256"/>
            <a:ext cx="292608" cy="2487168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727448" y="2121408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dobrar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&amp;x)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x *=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muda 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4   5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dobrar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(n);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n agora é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solidFill>
            <a:srgbClr val="1C2D1C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02920" y="4654296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int &amp;x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→  o  </a:t>
            </a:r>
            <a:r>
              <a:rPr b="1" i="0" lang="en-US" sz="11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0" i="0" lang="en-US" sz="11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transforma o parâmetro em referência ao original — a função acessa a variável real, não uma cópia.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Pratique: Funções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Resolver individualmente — depois discutimos em grupo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9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9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932688" y="173736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042416" y="181051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Escreva uma função int maximo(int a, int b) que retorna o maior dos dois.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932688" y="269748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042416" y="277063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Escreva uma função void trocar(int &amp;a, int &amp;b) que troca os valores de duas variáveis.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11480" y="3657600"/>
            <a:ext cx="402336" cy="402336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11480" y="36576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32688" y="365760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042416" y="373075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Escreva uma função bool ehPar(int n) que retorna true se o número for par.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⏱  10 minutos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411480" y="256032"/>
            <a:ext cx="2176272" cy="256032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11480" y="246888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ARRAYS &amp; STRINGS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Array — bloco de memória contígua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Sequência de elementos do mesmo tipo, acessados por índice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10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0"/>
          <p:cNvSpPr/>
          <p:nvPr/>
        </p:nvSpPr>
        <p:spPr>
          <a:xfrm>
            <a:off x="411480" y="1737360"/>
            <a:ext cx="5303520" cy="29260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411480" y="1737360"/>
            <a:ext cx="292608" cy="29260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29768" y="1810512"/>
            <a:ext cx="5212080" cy="2816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declaração: tipo  nome[tamanho]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notas[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] = {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62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3   4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notas[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];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70  (primeiro)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notas[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];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78  (último)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6   7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percorrer com for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8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i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i &lt; 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9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notas[i] &lt;&lt;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 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10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897880" y="17556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MEMÓRIA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897880" y="2011680"/>
            <a:ext cx="502920" cy="502920"/>
          </a:xfrm>
          <a:prstGeom prst="rect">
            <a:avLst/>
          </a:prstGeom>
          <a:solidFill>
            <a:srgbClr val="1C2D3E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589788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897880" y="25328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[0]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428232" y="25328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[1]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958584" y="2011680"/>
            <a:ext cx="502920" cy="5029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958584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958584" y="25328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[2]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488936" y="2011680"/>
            <a:ext cx="502920" cy="5029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7488936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488936" y="25328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[3]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8019288" y="2011680"/>
            <a:ext cx="502920" cy="5029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8019288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019288" y="25328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[4]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897880" y="2926080"/>
            <a:ext cx="2788920" cy="71323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5897880" y="2926080"/>
            <a:ext cx="45720" cy="713232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007608" y="299923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Índice começa em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007608" y="322783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notas[0] é o 1º elemento.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notas[4] é o 5º (último).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897880" y="3730752"/>
            <a:ext cx="2788920" cy="640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897880" y="3730752"/>
            <a:ext cx="45720" cy="640080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007608" y="380390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Tamanho fixo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007608" y="403250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Array declarado como [5]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nunca muda de tamanho.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/>
          <p:nvPr/>
        </p:nvSpPr>
        <p:spPr>
          <a:xfrm>
            <a:off x="411480" y="256032"/>
            <a:ext cx="2176272" cy="256032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11480" y="246888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ARRAYS &amp; STRINGS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Strings em C++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Duas formas: array de char  ou  string da STL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1"/>
          <p:cNvSpPr/>
          <p:nvPr/>
        </p:nvSpPr>
        <p:spPr>
          <a:xfrm>
            <a:off x="411480" y="173736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C-style  (array de char)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11480" y="2029968"/>
            <a:ext cx="4023360" cy="20116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411480" y="2029968"/>
            <a:ext cx="292608" cy="20116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29768" y="2103120"/>
            <a:ext cx="393192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nome[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"Ana"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termina com \0 (nulo)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3   4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comprimento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(nome);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709160" y="17373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std::string  (recomendado)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709160" y="2029968"/>
            <a:ext cx="4114800" cy="201168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709160" y="2029968"/>
            <a:ext cx="292608" cy="20116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727448" y="2103120"/>
            <a:ext cx="4023360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nome =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 "Ana"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2   3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nome.length();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nome[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];    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'A'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nome +=</a:t>
            </a:r>
            <a:r>
              <a:rPr b="0" i="0" lang="en-US" sz="1100" u="none" cap="none" strike="noStrike">
                <a:solidFill>
                  <a:srgbClr val="A5D6FF"/>
                </a:solidFill>
                <a:latin typeface="Consolas"/>
                <a:ea typeface="Consolas"/>
                <a:cs typeface="Consolas"/>
                <a:sym typeface="Consolas"/>
              </a:rPr>
              <a:t> " Silva"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11480" y="4133088"/>
            <a:ext cx="8321040" cy="71323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11480" y="4133088"/>
            <a:ext cx="45720" cy="7132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521208" y="420624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Use std::string na disciplina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21208" y="4434840"/>
            <a:ext cx="8138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É mais seguro, evita estouro de buffer e tem métodos úteis (length, find, substr, +). Inclua #include &lt;string&gt;.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11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Pratique: Arrays &amp; Strings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Resolver individualmente — depois discutimos em grupo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2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2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932688" y="173736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1042416" y="181051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Declare um array de 5 inteiros, leia os valores do usuário e imprima o maior.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411480" y="26974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32688" y="269748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1042416" y="277063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Percorra o array ao contrário (do último ao primeiro) usando for.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11480" y="3657600"/>
            <a:ext cx="402336" cy="40233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411480" y="36576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932688" y="3657600"/>
            <a:ext cx="7726680" cy="62179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1042416" y="373075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Leia uma string do usuário e imprima quantas vezes a letra 'a' aparece nela.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⏱  10 minutos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PONTEIROS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 que é um ponteiro?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Uma variável que armazena o endereço de outra variável na memória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3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3"/>
          <p:cNvSpPr/>
          <p:nvPr/>
        </p:nvSpPr>
        <p:spPr>
          <a:xfrm>
            <a:off x="411480" y="1737360"/>
            <a:ext cx="5486400" cy="228600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11480" y="1737360"/>
            <a:ext cx="292608" cy="22860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29768" y="1810512"/>
            <a:ext cx="5394960" cy="2176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x 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42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   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variável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p = &amp;x;  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p guarda o endereço de 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3   4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x; 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42  (valor de 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p; 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0x7ffd...  (endereço)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*p; 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42  (valor via ponteiro)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6080760" y="1755648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MEMÓRIA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080760" y="2029968"/>
            <a:ext cx="1280160" cy="658368"/>
          </a:xfrm>
          <a:prstGeom prst="rect">
            <a:avLst/>
          </a:prstGeom>
          <a:solidFill>
            <a:srgbClr val="1C2D3E"/>
          </a:solidFill>
          <a:ln cap="flat" cmpd="sng" w="254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135624" y="206654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x  (int)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135624" y="22585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135624" y="2505456"/>
            <a:ext cx="11887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0x7ffd0020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6080760" y="2798064"/>
            <a:ext cx="128016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135624" y="283464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p  (int*)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135624" y="30266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0x7ffd0020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135624" y="3273552"/>
            <a:ext cx="11887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0x7ffd0024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3"/>
          <p:cNvCxnSpPr/>
          <p:nvPr/>
        </p:nvCxnSpPr>
        <p:spPr>
          <a:xfrm rot="10800000">
            <a:off x="6720840" y="2715768"/>
            <a:ext cx="0" cy="411480"/>
          </a:xfrm>
          <a:prstGeom prst="straightConnector1">
            <a:avLst/>
          </a:prstGeom>
          <a:noFill/>
          <a:ln cap="flat" cmpd="sng" w="19050">
            <a:solidFill>
              <a:srgbClr val="FF7B7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7" name="Google Shape;337;p13"/>
          <p:cNvSpPr/>
          <p:nvPr/>
        </p:nvSpPr>
        <p:spPr>
          <a:xfrm>
            <a:off x="411480" y="4133088"/>
            <a:ext cx="832104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548640" y="4187952"/>
            <a:ext cx="81381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&amp;x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→  endereço de x     </a:t>
            </a:r>
            <a:r>
              <a:rPr b="1" i="0" lang="en-US" sz="13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*p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→  valor apontado por p     </a:t>
            </a:r>
            <a:r>
              <a:rPr b="1" i="0" lang="en-US" sz="13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int*</a:t>
            </a: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 →  tipo: ponteiro para 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13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PONTEIROS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Os dois operadores essenciais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&amp; e * são operações opostas — uma dá endereço, a outra vai ao valor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4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4"/>
          <p:cNvSpPr/>
          <p:nvPr/>
        </p:nvSpPr>
        <p:spPr>
          <a:xfrm>
            <a:off x="411480" y="1719072"/>
            <a:ext cx="4023360" cy="2926080"/>
          </a:xfrm>
          <a:prstGeom prst="rect">
            <a:avLst/>
          </a:prstGeom>
          <a:solidFill>
            <a:srgbClr val="161B22"/>
          </a:solidFill>
          <a:ln cap="flat" cmpd="sng" w="254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548640" y="1810512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353312" y="188366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operador de endereço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566928" y="257860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"Onde está essa variável?"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502920" y="2926080"/>
            <a:ext cx="3840480" cy="14630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502920" y="2926080"/>
            <a:ext cx="292608" cy="14630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21208" y="2999232"/>
            <a:ext cx="374904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x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10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p = &amp;x;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p = endereço de 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709160" y="1719072"/>
            <a:ext cx="4023360" cy="2926080"/>
          </a:xfrm>
          <a:prstGeom prst="rect">
            <a:avLst/>
          </a:prstGeom>
          <a:solidFill>
            <a:srgbClr val="161B22"/>
          </a:solidFill>
          <a:ln cap="flat" cmpd="sng" w="254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4846320" y="1810512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5200"/>
              <a:buFont typeface="Consolas"/>
              <a:buNone/>
            </a:pPr>
            <a:r>
              <a:rPr b="1" i="0" lang="en-US" sz="52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5650992" y="188366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operador de dereferência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846320" y="257860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"O que tem nesse endereço?"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800600" y="2926080"/>
            <a:ext cx="3840480" cy="146304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4800600" y="2926080"/>
            <a:ext cx="292608" cy="14630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4818888" y="2999232"/>
            <a:ext cx="374904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x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10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p = &amp;x;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*p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99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x vira 99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14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PONTEIROS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Memória dinâmica — new e delete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Alocar memória em tempo de execução, no heap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15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15"/>
          <p:cNvSpPr/>
          <p:nvPr/>
        </p:nvSpPr>
        <p:spPr>
          <a:xfrm>
            <a:off x="411480" y="1737360"/>
            <a:ext cx="5303520" cy="26517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411480" y="1737360"/>
            <a:ext cx="292608" cy="26517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429768" y="1810512"/>
            <a:ext cx="5212080" cy="254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new: aloca no heap e retorna ponteiro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p =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3   4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&lt;&lt; *p;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5   6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delete: libera a memória alocada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8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 = nullptr;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boa prática: zerar o ponteiro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897880" y="1737360"/>
            <a:ext cx="2788920" cy="914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5897880" y="1737360"/>
            <a:ext cx="45720" cy="91440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6007608" y="181051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Stack vs Heap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6007608" y="2039112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Stack: variáveis locais, automático.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Heap: new/delete, você controla.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897880" y="2743200"/>
            <a:ext cx="2788920" cy="914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897880" y="2743200"/>
            <a:ext cx="45720" cy="914400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6007608" y="281635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Memory leak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6007608" y="3044952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Esquecer o delete = memória nunca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devolvida ao sistema.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897880" y="3749040"/>
            <a:ext cx="2788920" cy="7772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5897880" y="3749040"/>
            <a:ext cx="45720" cy="777240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6007608" y="382219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nullptr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007608" y="4050792"/>
            <a:ext cx="26060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Ponteiro nulo. Sempre atribua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após delete.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15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PONTEIROS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Array dinâmico com new[ ]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Quando o tamanho só é conhecido em tempo de execução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6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16"/>
          <p:cNvSpPr/>
          <p:nvPr/>
        </p:nvSpPr>
        <p:spPr>
          <a:xfrm>
            <a:off x="411480" y="1737360"/>
            <a:ext cx="5303520" cy="310896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411480" y="1737360"/>
            <a:ext cx="292608" cy="3108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429768" y="1810512"/>
            <a:ext cx="5212080" cy="2999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&gt;&gt; 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3   4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aloca array de n inteiros no heap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arr =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[n];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6   7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usa como array normal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8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i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 i &lt; n; i++)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9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arr[i] = i *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10  11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libera com delete[]  (não delete!)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12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[] arr;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897880" y="1737360"/>
            <a:ext cx="2788920" cy="9326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5897880" y="1737360"/>
            <a:ext cx="45720" cy="932688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007608" y="181051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delete[ ] vs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007608" y="2039112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new int[n]  →  delete[] arr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new int     →  delete arr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Misturar causa comportamento indefinido.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5897880" y="2761488"/>
            <a:ext cx="2788920" cy="89611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5897880" y="2761488"/>
            <a:ext cx="45720" cy="89611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6007608" y="2834640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Por que usar isso?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007608" y="3063240"/>
            <a:ext cx="260604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Em estruturas de dados (lista, fila,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árvore) cada nó é alocado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dinamicamente com new.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897880" y="3749040"/>
            <a:ext cx="2788920" cy="7498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5897880" y="3749040"/>
            <a:ext cx="45720" cy="749808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6007608" y="382219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Conexão com a disciplina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007608" y="405079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Cada nó de uma lista ligada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será um new Nó(...).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16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PONTEIROS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Ponteiro para struct — prévia do Nó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 base de toda lista ligada que vamos implementar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17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17"/>
          <p:cNvSpPr/>
          <p:nvPr/>
        </p:nvSpPr>
        <p:spPr>
          <a:xfrm>
            <a:off x="411480" y="1737360"/>
            <a:ext cx="5212080" cy="301752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411480" y="1737360"/>
            <a:ext cx="292608" cy="30175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429768" y="1810512"/>
            <a:ext cx="5120640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int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dado;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    No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proximo;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aponta para o próximo nó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5   6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criar dois nós encadeados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7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n1 =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8 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* n2 =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2A8FF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9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n1-&gt;dado =</a:t>
            </a:r>
            <a:r>
              <a:rPr b="0" i="0" lang="en-US" sz="110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10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10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n1-&gt;proximo = n2;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n1 aponta para n2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5897880" y="17556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VISUALIZAÇÃO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5897880" y="2029968"/>
            <a:ext cx="1097280" cy="594360"/>
          </a:xfrm>
          <a:prstGeom prst="rect">
            <a:avLst/>
          </a:prstGeom>
          <a:solidFill>
            <a:srgbClr val="1C2D3E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5897880" y="2029968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7013448" y="2029968"/>
            <a:ext cx="658368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7013448" y="2029968"/>
            <a:ext cx="6583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*prox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17"/>
          <p:cNvCxnSpPr/>
          <p:nvPr/>
        </p:nvCxnSpPr>
        <p:spPr>
          <a:xfrm>
            <a:off x="7680960" y="233172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FF7B7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6" name="Google Shape;436;p17"/>
          <p:cNvSpPr/>
          <p:nvPr/>
        </p:nvSpPr>
        <p:spPr>
          <a:xfrm>
            <a:off x="8138160" y="2029968"/>
            <a:ext cx="109728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8138160" y="2029968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6217920" y="265176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n1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458200" y="265176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n2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5897880" y="2944368"/>
            <a:ext cx="2788920" cy="9144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7"/>
          <p:cNvSpPr/>
          <p:nvPr/>
        </p:nvSpPr>
        <p:spPr>
          <a:xfrm>
            <a:off x="5897880" y="2944368"/>
            <a:ext cx="45720" cy="914400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6007608" y="3017520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Operador -&gt;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6007608" y="3246120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n1-&gt;dado  é o mesmo 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(*n1).dado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Use -&gt; sempre com ponteiros.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897880" y="3931920"/>
            <a:ext cx="2788920" cy="7498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5897880" y="3931920"/>
            <a:ext cx="45720" cy="7498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6007608" y="400507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O que vem a seguir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6007608" y="423367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Com essa base, lista ligada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é apenas encadear nós.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17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"/>
          <p:cNvSpPr/>
          <p:nvPr/>
        </p:nvSpPr>
        <p:spPr>
          <a:xfrm>
            <a:off x="411480" y="256032"/>
            <a:ext cx="1344168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411480" y="246888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EXERCÍCIO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Pratique: Ponteiros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Resolver individualmente — depois discutimos em grupo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8" name="Google Shape;458;p18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18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411480" y="17373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932688" y="1737360"/>
            <a:ext cx="772668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042416" y="1828800"/>
            <a:ext cx="7498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Declare int x = 7. Crie um ponteiro para x. Usando somente o ponteiro, mude o valor de x para 21 e imprima.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411480" y="2706624"/>
            <a:ext cx="402336" cy="40233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411480" y="2706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932688" y="2706624"/>
            <a:ext cx="772668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1042416" y="2798064"/>
            <a:ext cx="7498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Aloque dinamicamente um int com new, atribua o valor 100, imprima e libere com delete.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411480" y="3675888"/>
            <a:ext cx="402336" cy="402336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411480" y="367588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932688" y="3675888"/>
            <a:ext cx="772668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"/>
          <p:cNvSpPr/>
          <p:nvPr/>
        </p:nvSpPr>
        <p:spPr>
          <a:xfrm>
            <a:off x="1042416" y="3767328"/>
            <a:ext cx="7498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Crie uma struct Ponto com x e y. Aloque um Ponto com new, atribua valores usando -&gt;, imprima e delete.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⏱  12 minutos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18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/>
          <p:nvPr/>
        </p:nvSpPr>
        <p:spPr>
          <a:xfrm>
            <a:off x="411480" y="256032"/>
            <a:ext cx="1581912" cy="256032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411480" y="246888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Erros mais comuns — reconheça e evite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9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19"/>
          <p:cNvSpPr/>
          <p:nvPr/>
        </p:nvSpPr>
        <p:spPr>
          <a:xfrm>
            <a:off x="411480" y="1737360"/>
            <a:ext cx="3931920" cy="493776"/>
          </a:xfrm>
          <a:prstGeom prst="rect">
            <a:avLst/>
          </a:prstGeom>
          <a:solidFill>
            <a:srgbClr val="1A0E0E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502920" y="1737360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if (x = 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19"/>
          <p:cNvCxnSpPr/>
          <p:nvPr/>
        </p:nvCxnSpPr>
        <p:spPr>
          <a:xfrm>
            <a:off x="4407408" y="1984248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85" name="Google Shape;485;p19"/>
          <p:cNvSpPr/>
          <p:nvPr/>
        </p:nvSpPr>
        <p:spPr>
          <a:xfrm>
            <a:off x="4901184" y="1737360"/>
            <a:ext cx="3831336" cy="493776"/>
          </a:xfrm>
          <a:prstGeom prst="rect">
            <a:avLst/>
          </a:prstGeom>
          <a:solidFill>
            <a:srgbClr val="0D1A0E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4992624" y="1737360"/>
            <a:ext cx="36484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if (x == 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502920" y="225856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= é atribuição. == é comparação.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411480" y="2560320"/>
            <a:ext cx="3931920" cy="493776"/>
          </a:xfrm>
          <a:prstGeom prst="rect">
            <a:avLst/>
          </a:prstGeom>
          <a:solidFill>
            <a:srgbClr val="1A0E0E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502920" y="2560320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 (int i=0; i&lt;=5; i++)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19"/>
          <p:cNvCxnSpPr/>
          <p:nvPr/>
        </p:nvCxnSpPr>
        <p:spPr>
          <a:xfrm>
            <a:off x="4407408" y="2807208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1" name="Google Shape;491;p19"/>
          <p:cNvSpPr/>
          <p:nvPr/>
        </p:nvSpPr>
        <p:spPr>
          <a:xfrm>
            <a:off x="4901184" y="2560320"/>
            <a:ext cx="3831336" cy="493776"/>
          </a:xfrm>
          <a:prstGeom prst="rect">
            <a:avLst/>
          </a:prstGeom>
          <a:solidFill>
            <a:srgbClr val="0D1A0E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4992624" y="2560320"/>
            <a:ext cx="36484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for (int i=0; i&lt;5; i++)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502920" y="308152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Off-by-one: array[5] tem índices 0–4.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411480" y="3383280"/>
            <a:ext cx="3931920" cy="493776"/>
          </a:xfrm>
          <a:prstGeom prst="rect">
            <a:avLst/>
          </a:prstGeom>
          <a:solidFill>
            <a:srgbClr val="1A0E0E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502920" y="3383280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delete p;  (após new int[n])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19"/>
          <p:cNvCxnSpPr/>
          <p:nvPr/>
        </p:nvCxnSpPr>
        <p:spPr>
          <a:xfrm>
            <a:off x="4407408" y="3630168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7" name="Google Shape;497;p19"/>
          <p:cNvSpPr/>
          <p:nvPr/>
        </p:nvSpPr>
        <p:spPr>
          <a:xfrm>
            <a:off x="4901184" y="3383280"/>
            <a:ext cx="3831336" cy="493776"/>
          </a:xfrm>
          <a:prstGeom prst="rect">
            <a:avLst/>
          </a:prstGeom>
          <a:solidFill>
            <a:srgbClr val="0D1A0E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4992624" y="3383280"/>
            <a:ext cx="36484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delete[] 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502920" y="390448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Array precisa de delete[]. delete simples é UB.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411480" y="4206240"/>
            <a:ext cx="3931920" cy="493776"/>
          </a:xfrm>
          <a:prstGeom prst="rect">
            <a:avLst/>
          </a:prstGeom>
          <a:solidFill>
            <a:srgbClr val="1A0E0E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9"/>
          <p:cNvSpPr/>
          <p:nvPr/>
        </p:nvSpPr>
        <p:spPr>
          <a:xfrm>
            <a:off x="502920" y="4206240"/>
            <a:ext cx="3749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int* p;  cout &lt;&lt; *p;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19"/>
          <p:cNvCxnSpPr/>
          <p:nvPr/>
        </p:nvCxnSpPr>
        <p:spPr>
          <a:xfrm>
            <a:off x="4407408" y="4453128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3" name="Google Shape;503;p19"/>
          <p:cNvSpPr/>
          <p:nvPr/>
        </p:nvSpPr>
        <p:spPr>
          <a:xfrm>
            <a:off x="4901184" y="4206240"/>
            <a:ext cx="3831336" cy="493776"/>
          </a:xfrm>
          <a:prstGeom prst="rect">
            <a:avLst/>
          </a:prstGeom>
          <a:solidFill>
            <a:srgbClr val="0D1A0E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"/>
          <p:cNvSpPr/>
          <p:nvPr/>
        </p:nvSpPr>
        <p:spPr>
          <a:xfrm>
            <a:off x="4992624" y="4206240"/>
            <a:ext cx="364845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int* p = nullptr;  // ou aponte para algo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502920" y="47274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Ponteiro não inicializado → crash ou lixo.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19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"/>
          <p:cNvSpPr/>
          <p:nvPr/>
        </p:nvSpPr>
        <p:spPr>
          <a:xfrm>
            <a:off x="411480" y="256032"/>
            <a:ext cx="1106424" cy="2560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411480" y="246888"/>
            <a:ext cx="11064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SÍNTESE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Resumo — o que preciso saber antes de listas ligadas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20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20"/>
          <p:cNvSpPr/>
          <p:nvPr/>
        </p:nvSpPr>
        <p:spPr>
          <a:xfrm>
            <a:off x="411480" y="1737360"/>
            <a:ext cx="1463040" cy="402336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484632" y="1737360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onsolas"/>
                <a:ea typeface="Consolas"/>
                <a:cs typeface="Consolas"/>
                <a:sym typeface="Consolas"/>
              </a:rPr>
              <a:t>Conceito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911096" y="1737360"/>
            <a:ext cx="3200400" cy="402336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1984248" y="1737360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O que 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5148072" y="1737360"/>
            <a:ext cx="3931920" cy="402336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"/>
          <p:cNvSpPr/>
          <p:nvPr/>
        </p:nvSpPr>
        <p:spPr>
          <a:xfrm>
            <a:off x="5221224" y="173736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Onde aparece em estruturas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411480" y="2176272"/>
            <a:ext cx="146304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484632" y="2176272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Ponteiro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911096" y="2176272"/>
            <a:ext cx="320040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0"/>
          <p:cNvSpPr/>
          <p:nvPr/>
        </p:nvSpPr>
        <p:spPr>
          <a:xfrm>
            <a:off x="1984248" y="217627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Variável que guarda endereço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148072" y="2176272"/>
            <a:ext cx="393192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"/>
          <p:cNvSpPr/>
          <p:nvPr/>
        </p:nvSpPr>
        <p:spPr>
          <a:xfrm>
            <a:off x="5221224" y="217627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Cada nó aponta para o próximo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11480" y="2615184"/>
            <a:ext cx="146304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84632" y="2615184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new / delete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1911096" y="2615184"/>
            <a:ext cx="320040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1984248" y="2615184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Alocar / liberar memória no heap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5148072" y="2615184"/>
            <a:ext cx="393192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5221224" y="261518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Cada nó é criado com new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411480" y="3054096"/>
            <a:ext cx="146304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484632" y="3054096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1911096" y="3054096"/>
            <a:ext cx="320040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0"/>
          <p:cNvSpPr/>
          <p:nvPr/>
        </p:nvSpPr>
        <p:spPr>
          <a:xfrm>
            <a:off x="1984248" y="3054096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Tipo customizado com campos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5148072" y="3054096"/>
            <a:ext cx="393192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5221224" y="3054096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struct No { dado, *proximo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411480" y="3493008"/>
            <a:ext cx="146304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0"/>
          <p:cNvSpPr/>
          <p:nvPr/>
        </p:nvSpPr>
        <p:spPr>
          <a:xfrm>
            <a:off x="484632" y="3493008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1911096" y="3493008"/>
            <a:ext cx="320040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1984248" y="3493008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Acesso via ponteiro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5148072" y="3493008"/>
            <a:ext cx="393192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0"/>
          <p:cNvSpPr/>
          <p:nvPr/>
        </p:nvSpPr>
        <p:spPr>
          <a:xfrm>
            <a:off x="5221224" y="349300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no-&gt;dado  ao percorrer a lista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411480" y="3931920"/>
            <a:ext cx="146304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484632" y="3931920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 / while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1911096" y="3931920"/>
            <a:ext cx="320040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0"/>
          <p:cNvSpPr/>
          <p:nvPr/>
        </p:nvSpPr>
        <p:spPr>
          <a:xfrm>
            <a:off x="1984248" y="3931920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Repetição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5148072" y="3931920"/>
            <a:ext cx="3931920" cy="402336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5221224" y="39319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Percorrer todos os nós da lista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411480" y="4370832"/>
            <a:ext cx="146304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"/>
          <p:cNvSpPr/>
          <p:nvPr/>
        </p:nvSpPr>
        <p:spPr>
          <a:xfrm>
            <a:off x="484632" y="4370832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Referência &amp;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1911096" y="4370832"/>
            <a:ext cx="320040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1984248" y="4370832"/>
            <a:ext cx="3108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Parâmetro que acessa o original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5148072" y="4370832"/>
            <a:ext cx="3931920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0"/>
          <p:cNvSpPr/>
          <p:nvPr/>
        </p:nvSpPr>
        <p:spPr>
          <a:xfrm>
            <a:off x="5221224" y="437083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Funções que modificam a lista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20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1"/>
          <p:cNvSpPr/>
          <p:nvPr/>
        </p:nvSpPr>
        <p:spPr>
          <a:xfrm>
            <a:off x="411480" y="256032"/>
            <a:ext cx="2057400" cy="25603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411480" y="24688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EXERCÍCIO 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Exercício integrador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411480" y="12618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Usa tudo: struct, ponteiro, new, delete, for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8" name="Google Shape;568;p21"/>
          <p:cNvCxnSpPr/>
          <p:nvPr/>
        </p:nvCxnSpPr>
        <p:spPr>
          <a:xfrm>
            <a:off x="411480" y="1572768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21"/>
          <p:cNvSpPr/>
          <p:nvPr/>
        </p:nvSpPr>
        <p:spPr>
          <a:xfrm>
            <a:off x="411480" y="1737360"/>
            <a:ext cx="5303520" cy="3200400"/>
          </a:xfrm>
          <a:prstGeom prst="rect">
            <a:avLst/>
          </a:prstGeom>
          <a:solidFill>
            <a:srgbClr val="010409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1"/>
          <p:cNvSpPr/>
          <p:nvPr/>
        </p:nvSpPr>
        <p:spPr>
          <a:xfrm>
            <a:off x="411480" y="1737360"/>
            <a:ext cx="292608" cy="32004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1"/>
          <p:cNvSpPr/>
          <p:nvPr/>
        </p:nvSpPr>
        <p:spPr>
          <a:xfrm>
            <a:off x="429768" y="1810512"/>
            <a:ext cx="5212080" cy="3090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1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Crie uma struct Aluno com nome (string) e nota (float).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2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Aloque dinamicamente um array de 3 Alunos com new.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3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Leia nome e nota de cada aluno.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4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Percorra o array e imprima o nome do aluno com maior nota.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5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Libere a memória corretamente.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6   7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Aluno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8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string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nome;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 9  </a:t>
            </a:r>
            <a:r>
              <a:rPr b="0" i="0" lang="en-US" sz="110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float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nota;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10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onsolas"/>
                <a:ea typeface="Consolas"/>
                <a:cs typeface="Consolas"/>
                <a:sym typeface="Consolas"/>
              </a:rPr>
              <a:t>11  12 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seu código a partir daqui...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5897880" y="1737360"/>
            <a:ext cx="2788920" cy="8046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1"/>
          <p:cNvSpPr/>
          <p:nvPr/>
        </p:nvSpPr>
        <p:spPr>
          <a:xfrm>
            <a:off x="5897880" y="1737360"/>
            <a:ext cx="45720" cy="80467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1"/>
          <p:cNvSpPr/>
          <p:nvPr/>
        </p:nvSpPr>
        <p:spPr>
          <a:xfrm>
            <a:off x="6007608" y="181051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6007608" y="2039112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Declare a struct Aluno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5897880" y="2633472"/>
            <a:ext cx="2788920" cy="8046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1"/>
          <p:cNvSpPr/>
          <p:nvPr/>
        </p:nvSpPr>
        <p:spPr>
          <a:xfrm>
            <a:off x="5897880" y="2633472"/>
            <a:ext cx="45720" cy="80467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1"/>
          <p:cNvSpPr/>
          <p:nvPr/>
        </p:nvSpPr>
        <p:spPr>
          <a:xfrm>
            <a:off x="6007608" y="270662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6007608" y="2935224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Aluno* alunos = new Aluno[3]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5897880" y="3529584"/>
            <a:ext cx="2788920" cy="804672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1"/>
          <p:cNvSpPr/>
          <p:nvPr/>
        </p:nvSpPr>
        <p:spPr>
          <a:xfrm>
            <a:off x="5897880" y="3529584"/>
            <a:ext cx="45720" cy="804672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1"/>
          <p:cNvSpPr/>
          <p:nvPr/>
        </p:nvSpPr>
        <p:spPr>
          <a:xfrm>
            <a:off x="6007608" y="3602736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6007608" y="3831336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Loop para ler dados → alunos[i].nome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5897880" y="4425696"/>
            <a:ext cx="2788920" cy="475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"/>
          <p:cNvSpPr/>
          <p:nvPr/>
        </p:nvSpPr>
        <p:spPr>
          <a:xfrm>
            <a:off x="5897880" y="4425696"/>
            <a:ext cx="45720" cy="475488"/>
          </a:xfrm>
          <a:prstGeom prst="rect">
            <a:avLst/>
          </a:prstGeom>
          <a:solidFill>
            <a:srgbClr val="FF7B72"/>
          </a:solidFill>
          <a:ln cap="flat" cmpd="sng" w="12700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6007608" y="4498848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Passo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6007608" y="4727448"/>
            <a:ext cx="260604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delete[] alunos;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411480" y="46634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⏱  15 minutos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21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411480" y="91440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Revisão concluída.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411480" y="171907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Na próxima aula: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411480" y="2194560"/>
            <a:ext cx="73152" cy="53035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621792" y="2212848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Conceito de Estrutura de Dados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621792" y="245059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que é, por que importa, TAD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411480" y="2980944"/>
            <a:ext cx="73152" cy="53035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"/>
          <p:cNvSpPr/>
          <p:nvPr/>
        </p:nvSpPr>
        <p:spPr>
          <a:xfrm>
            <a:off x="621792" y="2999232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Análise de Complexidade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621792" y="3236976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Big-O: O(1), O(n), O(n²), O(log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411480" y="3767328"/>
            <a:ext cx="73152" cy="530352"/>
          </a:xfrm>
          <a:prstGeom prst="rect">
            <a:avLst/>
          </a:prstGeom>
          <a:solidFill>
            <a:srgbClr val="D2A8FF"/>
          </a:solidFill>
          <a:ln cap="flat" cmpd="sng" w="12700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2"/>
          <p:cNvSpPr/>
          <p:nvPr/>
        </p:nvSpPr>
        <p:spPr>
          <a:xfrm>
            <a:off x="621792" y="3785616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Structs como TADs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621792" y="4023360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Base para as implementações do semestre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444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D444D"/>
                </a:solidFill>
                <a:latin typeface="Calibri"/>
                <a:ea typeface="Calibri"/>
                <a:cs typeface="Calibri"/>
                <a:sym typeface="Calibri"/>
              </a:rPr>
              <a:t>Bloco 1  —  Fundamentos de Estruturas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8046720" y="466344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22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2026-03-12T16:51:03Z</dcterms:created>
  <dc:creator>PptxGenJS</dc:creator>
</cp:coreProperties>
</file>